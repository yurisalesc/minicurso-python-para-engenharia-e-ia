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Inter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Inter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Inter-italic.fntdata"/><Relationship Id="rId14" Type="http://schemas.openxmlformats.org/officeDocument/2006/relationships/slide" Target="slides/slide9.xml"/><Relationship Id="rId36" Type="http://schemas.openxmlformats.org/officeDocument/2006/relationships/font" Target="fonts/Inter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Inter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968d306861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Google Shape;27;g3968d306861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d3cf90ed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" name="Google Shape;32;g3d3cf90ed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d3cf90ed6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3d3cf90ed6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d3cf90ed6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3d3cf90ed6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974ff7d89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3974ff7d8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74ff7d89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74ff7d89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74ff7d89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74ff7d89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74ff7d89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74ff7d89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74ff7d89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74ff7d89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74ff7d89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74ff7d89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74ff7d89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74ff7d89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74ff7d895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74ff7d895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74ff7d89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74ff7d89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74ff7d89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74ff7d89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74ff7d89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74ff7d89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74ff7d895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74ff7d895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6d71477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6d71477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6d71477f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6d71477f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6d71477f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6d71477f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6d71477fb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6d71477f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6d71477f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6d71477f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6d71477f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6d71477f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6d71477f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d6d71477f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6d71477fb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6d71477f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3cf90ed6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3cf90ed6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6d71477f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d6d71477f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6d71477f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6d71477f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6d71477f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d6d71477f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728b617c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d728b617c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n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>
            <p:ph idx="2" type="pic"/>
          </p:nvPr>
        </p:nvSpPr>
        <p:spPr>
          <a:xfrm>
            <a:off x="4568025" y="503988"/>
            <a:ext cx="4065600" cy="4135200"/>
          </a:xfrm>
          <a:prstGeom prst="rect">
            <a:avLst/>
          </a:prstGeom>
          <a:noFill/>
          <a:ln cap="flat" cmpd="sng" w="9525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Tw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>
            <p:ph idx="2" type="pic"/>
          </p:nvPr>
        </p:nvSpPr>
        <p:spPr>
          <a:xfrm>
            <a:off x="504600" y="503400"/>
            <a:ext cx="4077300" cy="2079300"/>
          </a:xfrm>
          <a:prstGeom prst="rect">
            <a:avLst/>
          </a:prstGeom>
          <a:noFill/>
          <a:ln cap="flat" cmpd="sng" w="9525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4"/>
          <p:cNvSpPr/>
          <p:nvPr>
            <p:ph idx="3" type="pic"/>
          </p:nvPr>
        </p:nvSpPr>
        <p:spPr>
          <a:xfrm>
            <a:off x="504600" y="2582700"/>
            <a:ext cx="4077300" cy="2079300"/>
          </a:xfrm>
          <a:prstGeom prst="rect">
            <a:avLst/>
          </a:prstGeom>
          <a:noFill/>
          <a:ln cap="flat" cmpd="sng" w="9525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C2D076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1pPr>
            <a:lvl2pPr indent="-317500" lvl="1" marL="914400"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2pPr>
            <a:lvl3pPr indent="-304800" lvl="2" marL="1371600">
              <a:spcBef>
                <a:spcPts val="200"/>
              </a:spcBef>
              <a:spcAft>
                <a:spcPts val="0"/>
              </a:spcAft>
              <a:buSzPts val="1200"/>
              <a:buChar char="•"/>
              <a:defRPr/>
            </a:lvl3pPr>
            <a:lvl4pPr indent="-292100" lvl="3" marL="1828800">
              <a:spcBef>
                <a:spcPts val="200"/>
              </a:spcBef>
              <a:spcAft>
                <a:spcPts val="0"/>
              </a:spcAft>
              <a:buSzPts val="1000"/>
              <a:buChar char="–"/>
              <a:defRPr/>
            </a:lvl4pPr>
            <a:lvl5pPr indent="-292100" lvl="4" marL="2286000">
              <a:spcBef>
                <a:spcPts val="200"/>
              </a:spcBef>
              <a:spcAft>
                <a:spcPts val="0"/>
              </a:spcAft>
              <a:buSzPts val="1000"/>
              <a:buChar char="»"/>
              <a:defRPr/>
            </a:lvl5pPr>
            <a:lvl6pPr indent="-292100" lvl="5" marL="2743200"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6pPr>
            <a:lvl7pPr indent="-292100" lvl="6" marL="3200400"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7pPr>
            <a:lvl8pPr indent="-292100" lvl="7" marL="3657600"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8pPr>
            <a:lvl9pPr indent="-292100" lvl="8" marL="4114800"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51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2200"/>
              <a:buFont typeface="Inter"/>
              <a:buNone/>
              <a:defRPr i="0" sz="2200" u="none" cap="none" strike="noStrike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•"/>
              <a:defRPr i="0" sz="16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–"/>
              <a:defRPr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•"/>
              <a:defRPr i="0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–"/>
              <a:defRPr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»"/>
              <a:defRPr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linkedin.com/in/yuriscosta" TargetMode="External"/><Relationship Id="rId4" Type="http://schemas.openxmlformats.org/officeDocument/2006/relationships/hyperlink" Target="http://github.com/yurisalesc" TargetMode="External"/><Relationship Id="rId5" Type="http://schemas.openxmlformats.org/officeDocument/2006/relationships/hyperlink" Target="http://lattes.cnpq.br/3020547892022901" TargetMode="External"/><Relationship Id="rId6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15.png"/><Relationship Id="rId6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ude o texto para Python para Engenharia e IA Do Zero ao Dashboard&#10;&#10;"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167300" y="984400"/>
            <a:ext cx="4730700" cy="3174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-32893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80"/>
              <a:buChar char="➔"/>
            </a:pPr>
            <a:r>
              <a:rPr lang="pt-BR" sz="1580"/>
              <a:t>Desenvolvedor Back-End;</a:t>
            </a:r>
            <a:endParaRPr sz="1580"/>
          </a:p>
          <a:p>
            <a:pPr indent="-32893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80"/>
              <a:buChar char="➔"/>
            </a:pPr>
            <a:r>
              <a:rPr lang="pt-BR" sz="1580"/>
              <a:t>Mestrando em Engenharia de Produç</a:t>
            </a:r>
            <a:r>
              <a:rPr lang="pt-BR" sz="1580"/>
              <a:t>ão;</a:t>
            </a:r>
            <a:endParaRPr sz="1580"/>
          </a:p>
          <a:p>
            <a:pPr indent="-32893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80"/>
              <a:buChar char="➔"/>
            </a:pPr>
            <a:r>
              <a:rPr lang="pt-BR" sz="1580"/>
              <a:t>Pós-Graduado em Engenharia de Software;</a:t>
            </a:r>
            <a:endParaRPr sz="1580"/>
          </a:p>
          <a:p>
            <a:pPr indent="-32893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80"/>
              <a:buChar char="➔"/>
            </a:pPr>
            <a:r>
              <a:rPr lang="pt-BR" sz="1580"/>
              <a:t>Tecnólogo em Análise e Desenvolvimento de Sistemas;</a:t>
            </a:r>
            <a:endParaRPr sz="1580"/>
          </a:p>
          <a:p>
            <a:pPr indent="-32893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80"/>
              <a:buChar char="➔"/>
            </a:pPr>
            <a:r>
              <a:rPr lang="pt-BR" sz="1580"/>
              <a:t>Técnico em Informática.</a:t>
            </a:r>
            <a:endParaRPr sz="158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8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580"/>
              <a:t>Linkedin: </a:t>
            </a:r>
            <a:r>
              <a:rPr lang="pt-BR" sz="1580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linkedin.com/in/yuriscosta</a:t>
            </a:r>
            <a:endParaRPr sz="158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580"/>
              <a:t>Github: </a:t>
            </a:r>
            <a:r>
              <a:rPr lang="pt-BR" sz="1580" u="sng">
                <a:solidFill>
                  <a:schemeClr val="l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github.com/yurisalesc</a:t>
            </a:r>
            <a:endParaRPr sz="158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580"/>
              <a:t>Lattes: </a:t>
            </a:r>
            <a:r>
              <a:rPr lang="pt-BR" sz="1580" u="sng">
                <a:solidFill>
                  <a:schemeClr val="lt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http://lattes.cnpq.br/3020547892022901</a:t>
            </a:r>
            <a:endParaRPr sz="158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80"/>
          </a:p>
        </p:txBody>
      </p:sp>
      <p:pic>
        <p:nvPicPr>
          <p:cNvPr id="35" name="Google Shape;35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8475" y="984392"/>
            <a:ext cx="3174700" cy="317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Conte</a:t>
            </a:r>
            <a:r>
              <a:rPr lang="pt-BR"/>
              <a:t>údo programático</a:t>
            </a:r>
            <a:endParaRPr/>
          </a:p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311700" y="1373975"/>
            <a:ext cx="57588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800"/>
              <a:buChar char="➔"/>
            </a:pPr>
            <a:r>
              <a:rPr lang="pt-BR" sz="1800"/>
              <a:t>Contextualização e introdução;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pt-BR" sz="1800"/>
              <a:t>Fundamentos e lógica de decisão;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pt-BR" sz="1800"/>
              <a:t>Estrutura de dados e funções;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pt-BR" sz="1800"/>
              <a:t>Manipulação de dados com Pandas;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pt-BR" sz="1800"/>
              <a:t>Visualização e dashboard.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Link para o material</a:t>
            </a:r>
            <a:endParaRPr/>
          </a:p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2386200"/>
            <a:ext cx="8520600" cy="3711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pt-BR" sz="1900"/>
              <a:t>https://github.com/yurisalesc/minicurso-python-para-engenharia-e-ia</a:t>
            </a:r>
            <a:endParaRPr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https://colab.research.google.com/</a:t>
            </a:r>
            <a:endParaRPr/>
          </a:p>
        </p:txBody>
      </p:sp>
      <p:pic>
        <p:nvPicPr>
          <p:cNvPr id="53" name="Google Shape;5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989450"/>
            <a:ext cx="3138499" cy="193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9499" y="1077530"/>
            <a:ext cx="494025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Vari</a:t>
            </a:r>
            <a:r>
              <a:rPr lang="pt-BR"/>
              <a:t>áveis</a:t>
            </a:r>
            <a:endParaRPr/>
          </a:p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lang="pt-BR"/>
              <a:t>São representações amigáveis de endereços hexadecimais complexos na memória RAM (ex: 0022EF71).</a:t>
            </a:r>
            <a:endParaRPr/>
          </a:p>
        </p:txBody>
      </p:sp>
      <p:pic>
        <p:nvPicPr>
          <p:cNvPr id="61" name="Google Shape;6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5614" y="2085747"/>
            <a:ext cx="3312775" cy="2571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Vari</a:t>
            </a:r>
            <a:r>
              <a:rPr lang="pt-BR"/>
              <a:t>áveis</a:t>
            </a:r>
            <a:endParaRPr/>
          </a:p>
        </p:txBody>
      </p:sp>
      <p:sp>
        <p:nvSpPr>
          <p:cNvPr id="67" name="Google Shape;6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935"/>
              <a:buNone/>
            </a:pPr>
            <a:r>
              <a:rPr b="1" lang="pt-BR"/>
              <a:t>Regras de Nomenclatura e Case Sensitivity:</a:t>
            </a:r>
            <a:endParaRPr b="1"/>
          </a:p>
          <a:p>
            <a:pPr indent="0" lvl="0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/>
          </a:p>
          <a:p>
            <a:pPr indent="-330200" lvl="0" marL="4572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</a:pPr>
            <a:r>
              <a:rPr b="1" lang="pt-BR"/>
              <a:t>Convenção snake_case:</a:t>
            </a:r>
            <a:r>
              <a:rPr lang="pt-BR"/>
              <a:t> Nomes compostos devem ser separados por underscore (ex: salario_base);</a:t>
            </a:r>
            <a:endParaRPr/>
          </a:p>
          <a:p>
            <a:pPr indent="0" lvl="0" marL="4572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/>
          </a:p>
          <a:p>
            <a:pPr indent="-330200" lvl="0" marL="4572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</a:pPr>
            <a:r>
              <a:rPr b="1" lang="pt-BR"/>
              <a:t>Case Sensitivity:</a:t>
            </a:r>
            <a:r>
              <a:rPr lang="pt-BR"/>
              <a:t> A linguagem diferencia maiúsculas de minúsculas. Portanto, Var1 e var1 ocupam endereços de memória distintos;</a:t>
            </a:r>
            <a:endParaRPr/>
          </a:p>
          <a:p>
            <a:pPr indent="0" lvl="0" marL="4572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/>
          </a:p>
          <a:p>
            <a:pPr indent="-330200" lvl="0" marL="4572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</a:pPr>
            <a:r>
              <a:rPr b="1" lang="pt-BR"/>
              <a:t>Restrições Técnicas:</a:t>
            </a:r>
            <a:r>
              <a:rPr lang="pt-BR"/>
              <a:t> Nomes de variáveis não podem começar com números. Por exemplo, 2aluno é inválido, enquanto aluno2 é perfeitamente aceitável;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</a:pPr>
            <a:r>
              <a:rPr b="1" lang="pt-BR"/>
              <a:t>Palavras Reservadas:</a:t>
            </a:r>
            <a:r>
              <a:rPr lang="pt-BR"/>
              <a:t> Não podemos utilizar termos internos do interpretador como identificadores. Além dos tradicionais if e break, atente-se a palavras mais específicas como lambda, yield, nonlocal e assert.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Tipos de dados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4150" y="1017725"/>
            <a:ext cx="5935695" cy="389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Entrada de Dados e Conversão de Tipos: Interatividade e Formatação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</a:pPr>
            <a:r>
              <a:rPr lang="pt-BR"/>
              <a:t>Funç</a:t>
            </a:r>
            <a:r>
              <a:rPr lang="pt-BR"/>
              <a:t>ão </a:t>
            </a:r>
            <a:r>
              <a:rPr b="1" lang="pt-BR"/>
              <a:t>input();</a:t>
            </a:r>
            <a:endParaRPr b="1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pt-BR"/>
              <a:t>Utilizamos as funções </a:t>
            </a:r>
            <a:r>
              <a:rPr b="1" lang="pt-BR"/>
              <a:t>int()</a:t>
            </a:r>
            <a:r>
              <a:rPr lang="pt-BR"/>
              <a:t>, </a:t>
            </a:r>
            <a:r>
              <a:rPr b="1" lang="pt-BR"/>
              <a:t>float()</a:t>
            </a:r>
            <a:r>
              <a:rPr lang="pt-BR"/>
              <a:t> e </a:t>
            </a:r>
            <a:r>
              <a:rPr b="1" lang="pt-BR"/>
              <a:t>bool()</a:t>
            </a:r>
            <a:r>
              <a:rPr lang="pt-BR"/>
              <a:t> para transformar a entrada bruta em dados processáveis;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pt-BR"/>
              <a:t>Para interpolação utilizando as </a:t>
            </a:r>
            <a:r>
              <a:rPr b="1" lang="pt-BR"/>
              <a:t>f-strings</a:t>
            </a:r>
            <a:r>
              <a:rPr lang="pt-BR"/>
              <a:t>;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pt-BR"/>
              <a:t>Função </a:t>
            </a:r>
            <a:r>
              <a:rPr b="1" lang="pt-BR"/>
              <a:t>print()</a:t>
            </a:r>
            <a:r>
              <a:rPr lang="pt-BR"/>
              <a:t> para exibição.</a:t>
            </a:r>
            <a:endParaRPr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5975" y="3330939"/>
            <a:ext cx="4972050" cy="8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600"/>
              <a:buAutoNum type="arabicPeriod"/>
            </a:pPr>
            <a:r>
              <a:rPr lang="pt-BR"/>
              <a:t>Implemente um script que peça dois números inteiros e exiba a soma, garantindo que a entrada não sofra concatenação de texto.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600"/>
              <a:buAutoNum type="arabicPeriod"/>
            </a:pPr>
            <a:r>
              <a:rPr lang="pt-BR"/>
              <a:t>Implemente um script que receba um número decimal e o converta para inteiro.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Operadores: A Lógica Aritmética, Relacional e de Atribuição</a:t>
            </a:r>
            <a:endParaRPr/>
          </a:p>
        </p:txBody>
      </p:sp>
      <p:pic>
        <p:nvPicPr>
          <p:cNvPr id="93" name="Google Shape;93;p17" title="Gemini_Generated_Image_rfeto7rfeto7rfe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4800" y="1133449"/>
            <a:ext cx="6535450" cy="356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Operadores: A Lógica Aritmética, Relacional e de Atribuição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935"/>
              <a:buNone/>
            </a:pPr>
            <a:r>
              <a:rPr b="1" lang="pt-BR" sz="1660"/>
              <a:t>Dica de Precedência (Ordem de Execução)</a:t>
            </a:r>
            <a:endParaRPr sz="1660"/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935"/>
              <a:buNone/>
            </a:pPr>
            <a:r>
              <a:rPr lang="pt-BR" sz="1660"/>
              <a:t>Quando você mistura esses operadores em uma única linha, o Python segue uma ordem específica (similar à matemática):</a:t>
            </a:r>
            <a:endParaRPr sz="1660"/>
          </a:p>
          <a:p>
            <a:pPr indent="-33401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660"/>
              <a:buChar char="•"/>
            </a:pPr>
            <a:r>
              <a:rPr lang="pt-BR" sz="1660"/>
              <a:t>Parênteses ()</a:t>
            </a:r>
            <a:endParaRPr sz="1660"/>
          </a:p>
          <a:p>
            <a:pPr indent="-3340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60"/>
              <a:buChar char="•"/>
            </a:pPr>
            <a:r>
              <a:rPr lang="pt-BR" sz="1660"/>
              <a:t>Potenciação **</a:t>
            </a:r>
            <a:endParaRPr sz="1660"/>
          </a:p>
          <a:p>
            <a:pPr indent="-3340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60"/>
              <a:buChar char="•"/>
            </a:pPr>
            <a:r>
              <a:rPr lang="pt-BR" sz="1660"/>
              <a:t>Multiplicação/Divisão *, /, //, %</a:t>
            </a:r>
            <a:endParaRPr sz="1660"/>
          </a:p>
          <a:p>
            <a:pPr indent="-3340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60"/>
              <a:buChar char="•"/>
            </a:pPr>
            <a:r>
              <a:rPr lang="pt-BR" sz="1660"/>
              <a:t>Soma/Subtração +, -</a:t>
            </a:r>
            <a:endParaRPr sz="1660"/>
          </a:p>
          <a:p>
            <a:pPr indent="-3340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60"/>
              <a:buChar char="•"/>
            </a:pPr>
            <a:r>
              <a:rPr lang="pt-BR" sz="1660"/>
              <a:t>Relacionais ==, !=, etc.</a:t>
            </a:r>
            <a:endParaRPr sz="1660"/>
          </a:p>
          <a:p>
            <a:pPr indent="-3340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60"/>
              <a:buChar char="•"/>
            </a:pPr>
            <a:r>
              <a:rPr lang="pt-BR" sz="1660"/>
              <a:t>Lógicos not, depois and, depois or</a:t>
            </a:r>
            <a:endParaRPr sz="166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-330200" lvl="0" marL="457200" rtl="0" algn="l">
              <a:spcBef>
                <a:spcPts val="300"/>
              </a:spcBef>
              <a:spcAft>
                <a:spcPts val="0"/>
              </a:spcAft>
              <a:buSzPts val="1600"/>
              <a:buAutoNum type="arabicPeriod"/>
            </a:pPr>
            <a:r>
              <a:rPr lang="pt-BR"/>
              <a:t>Desenvolva um script que recebe um n</a:t>
            </a:r>
            <a:r>
              <a:rPr lang="pt-BR"/>
              <a:t>úmero e retorna True se for par e False se for ímpar.</a:t>
            </a:r>
            <a:endParaRPr/>
          </a:p>
          <a:p>
            <a:pPr indent="0" lvl="0" marL="4572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just">
              <a:spcBef>
                <a:spcPts val="300"/>
              </a:spcBef>
              <a:spcAft>
                <a:spcPts val="0"/>
              </a:spcAft>
              <a:buSzPts val="1600"/>
              <a:buAutoNum type="arabicPeriod"/>
            </a:pPr>
            <a:r>
              <a:rPr lang="pt-BR"/>
              <a:t>Crie um programa que receba três notas de um aluno. Calcule a média final considerando que a primeira nota tem peso 2, a segunda peso 3 e a terceira peso 5.</a:t>
            </a:r>
            <a:endParaRPr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4337" y="2787039"/>
            <a:ext cx="2915325" cy="77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Estruturas Condicionais: Desvios de Fluxo e Árvores de Decisão</a:t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pt-BR"/>
              <a:t>Estruturas condicionais permitem que o sistema reaja a diferentes cenários de dados.</a:t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450" y="1559899"/>
            <a:ext cx="7463099" cy="333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99575"/>
            <a:ext cx="8839199" cy="3944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</a:t>
            </a:r>
            <a:endParaRPr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-330200" lvl="0" marL="457200" rtl="0" algn="just">
              <a:spcBef>
                <a:spcPts val="300"/>
              </a:spcBef>
              <a:spcAft>
                <a:spcPts val="0"/>
              </a:spcAft>
              <a:buSzPts val="1600"/>
              <a:buAutoNum type="arabicPeriod"/>
            </a:pPr>
            <a:r>
              <a:rPr lang="pt-BR"/>
              <a:t>Cálculo de Frete Logístico por Faixa de Peso</a:t>
            </a:r>
            <a:endParaRPr/>
          </a:p>
          <a:p>
            <a:pPr indent="0" lvl="0" marL="45720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lang="pt-BR"/>
              <a:t>Uma transportadora cobra o frete baseada no peso da carga (kg). Crie um programa que receba o peso e calcule o custo total:</a:t>
            </a:r>
            <a:endParaRPr/>
          </a:p>
          <a:p>
            <a:pPr indent="0" lvl="0" marL="45720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b="1" lang="pt-BR"/>
              <a:t>Até 10 kg</a:t>
            </a:r>
            <a:r>
              <a:rPr lang="pt-BR"/>
              <a:t>: R$ 5,00 por kg.</a:t>
            </a:r>
            <a:endParaRPr/>
          </a:p>
          <a:p>
            <a:pPr indent="0" lvl="0" marL="45720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b="1" lang="pt-BR"/>
              <a:t>De 10.1 kg até 50 kg</a:t>
            </a:r>
            <a:r>
              <a:rPr lang="pt-BR"/>
              <a:t>: R$ 4,00 por kg.</a:t>
            </a:r>
            <a:endParaRPr/>
          </a:p>
          <a:p>
            <a:pPr indent="0" lvl="0" marL="45720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b="1" lang="pt-BR"/>
              <a:t>Acima de 50 kg</a:t>
            </a:r>
            <a:r>
              <a:rPr lang="pt-BR"/>
              <a:t>: R$ 3,50 por kg.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Estruturas de Repetição</a:t>
            </a:r>
            <a:endParaRPr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 lnSpcReduction="10000"/>
          </a:bodyPr>
          <a:lstStyle/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lang="pt-BR"/>
              <a:t>T</a:t>
            </a:r>
            <a:r>
              <a:rPr lang="pt-BR"/>
              <a:t>ambém conhecidas como </a:t>
            </a:r>
            <a:r>
              <a:rPr b="1" lang="pt-BR"/>
              <a:t>laços, loops </a:t>
            </a:r>
            <a:r>
              <a:rPr lang="pt-BR"/>
              <a:t>ou</a:t>
            </a:r>
            <a:r>
              <a:rPr b="1" lang="pt-BR"/>
              <a:t> iterações</a:t>
            </a:r>
            <a:r>
              <a:rPr lang="pt-BR"/>
              <a:t>, são utilizadas na programação para executar um determinado trecho de código várias vezes até que uma condição específica de parada seja atingida. Em vez de escrever o mesmo comando repetidamente, você utiliza essas estruturas para automatizar tarefas de forma eficiente.</a:t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lang="pt-BR"/>
              <a:t>1. Estrutura </a:t>
            </a:r>
            <a:r>
              <a:rPr b="1" lang="pt-BR"/>
              <a:t>while</a:t>
            </a:r>
            <a:endParaRPr b="1"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lang="pt-BR"/>
              <a:t>A ideia central do while é: enquanto uma condição for verdadeira, o bloco de instruções dentro dela continuará sendo executad</a:t>
            </a:r>
            <a:r>
              <a:rPr lang="pt-BR"/>
              <a:t>o.</a:t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lang="pt-BR"/>
              <a:t>2. Estrutura </a:t>
            </a:r>
            <a:r>
              <a:rPr b="1" lang="pt-BR"/>
              <a:t>for</a:t>
            </a:r>
            <a:endParaRPr b="1"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lang="pt-BR"/>
              <a:t>O laço for é conceitualmente diferente: ele percorre uma coleção de itens (como uma lista ou uma sequência de números) e executa o código uma vez para cada item dessa coleção.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9275" y="613566"/>
            <a:ext cx="5505450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6950" y="2525474"/>
            <a:ext cx="4410075" cy="1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Listas</a:t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lang="pt-BR"/>
              <a:t>Uma lista é uma coleção de itens organizada de forma linear e por uma ordem específica. Pode conter zero ou mais elementos de tipos diversos (inteiros, strings, ou até outras listas).</a:t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lang="pt-BR"/>
              <a:t>Identificação: São envolvidas por colchetes [] e os itens são separados por vírgulas.</a:t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lang="pt-BR"/>
              <a:t>Acesso: O acesso é feito através de um índice numérico, que começa sempre em 0 para o primeiro item.</a:t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3250" y="152400"/>
            <a:ext cx="581749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Dicion</a:t>
            </a:r>
            <a:r>
              <a:rPr lang="pt-BR"/>
              <a:t>ários</a:t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lang="pt-BR"/>
              <a:t>Um dicionário permite conectar informações relacionadas através de pares de chave-valor. Ao contrário das listas, onde o índice é um número, nos dicionários utilizam-se as chaves como índices.</a:t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lang="pt-BR"/>
              <a:t>Identificação: São definidos entre chaves {}.</a:t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lang="pt-BR"/>
              <a:t>Acesso: O acesso é feito diretamente através da chave, o que garante grande velocidade de pesquisa.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3250" y="152400"/>
            <a:ext cx="581749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Funções: Modularização e Reutilização de Lógica</a:t>
            </a:r>
            <a:endParaRPr/>
          </a:p>
        </p:txBody>
      </p:sp>
      <p:sp>
        <p:nvSpPr>
          <p:cNvPr id="164" name="Google Shape;16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lang="pt-BR"/>
              <a:t>Funções são blocos de código nomeados que encapsulam lógica específica. Utilizamos </a:t>
            </a:r>
            <a:r>
              <a:rPr b="1" lang="pt-BR"/>
              <a:t>def()</a:t>
            </a:r>
            <a:r>
              <a:rPr lang="pt-BR"/>
              <a:t> para declarar a função e </a:t>
            </a:r>
            <a:r>
              <a:rPr b="1" lang="pt-BR"/>
              <a:t>return</a:t>
            </a:r>
            <a:r>
              <a:rPr lang="pt-BR"/>
              <a:t> para entregar o resultado.</a:t>
            </a:r>
            <a:endParaRPr/>
          </a:p>
        </p:txBody>
      </p:sp>
      <p:pic>
        <p:nvPicPr>
          <p:cNvPr id="165" name="Google Shape;165;p29" title="carb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8750" y="1989950"/>
            <a:ext cx="4446501" cy="27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</a:t>
            </a:r>
            <a:endParaRPr/>
          </a:p>
        </p:txBody>
      </p:sp>
      <p:sp>
        <p:nvSpPr>
          <p:cNvPr id="171" name="Google Shape;17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 fontScale="92500" lnSpcReduction="20000"/>
          </a:bodyPr>
          <a:lstStyle/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lang="pt-BR"/>
              <a:t>Voc</a:t>
            </a:r>
            <a:r>
              <a:rPr lang="pt-BR"/>
              <a:t>ê está responsável pela entrada dos estudantes em uma festa universitária. Entretanto, só alunos com 18 anos ou mais estão autorizados a entrar. Você receberá um dicionário com o nome e idade de alguns estudantes que solicitaram a participação.</a:t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lang="pt-BR"/>
              <a:t>Crie um script que que receberá o dicionário acima e retornará uma </a:t>
            </a:r>
            <a:r>
              <a:rPr b="1" lang="pt-BR"/>
              <a:t>lista</a:t>
            </a:r>
            <a:r>
              <a:rPr lang="pt-BR"/>
              <a:t> com o nome dos estudantes que possuem pelo menos 18 anos.</a:t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b="1" lang="pt-BR"/>
              <a:t>Dica: você utilizará função, laço de repetição, condicional e lista</a:t>
            </a:r>
            <a:endParaRPr b="1"/>
          </a:p>
        </p:txBody>
      </p:sp>
      <p:pic>
        <p:nvPicPr>
          <p:cNvPr id="172" name="Google Shape;17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3313" y="1922325"/>
            <a:ext cx="1857375" cy="16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5 passos para o processamento de dados</a:t>
            </a:r>
            <a:endParaRPr/>
          </a:p>
        </p:txBody>
      </p:sp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311700" y="1570846"/>
            <a:ext cx="8520600" cy="299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pt-BR"/>
              <a:t>AQUISIÇ</a:t>
            </a:r>
            <a:r>
              <a:rPr lang="pt-BR"/>
              <a:t>ÃO -&gt; LIMPEZA -&gt; TRANSFORMAÇÃO -&gt; </a:t>
            </a:r>
            <a:r>
              <a:rPr lang="pt-BR">
                <a:solidFill>
                  <a:srgbClr val="00FF00"/>
                </a:solidFill>
              </a:rPr>
              <a:t>ANÁLISE</a:t>
            </a:r>
            <a:r>
              <a:rPr lang="pt-BR">
                <a:solidFill>
                  <a:schemeClr val="accent6"/>
                </a:solidFill>
              </a:rPr>
              <a:t> </a:t>
            </a:r>
            <a:r>
              <a:rPr lang="pt-BR"/>
              <a:t>-&gt; ARMAZENAMENTO</a:t>
            </a:r>
            <a:endParaRPr/>
          </a:p>
        </p:txBody>
      </p:sp>
      <p:pic>
        <p:nvPicPr>
          <p:cNvPr id="179" name="Google Shape;17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3925" y="2423375"/>
            <a:ext cx="2863551" cy="119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7050" y="2633313"/>
            <a:ext cx="2993800" cy="77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Pandas</a:t>
            </a:r>
            <a:endParaRPr/>
          </a:p>
        </p:txBody>
      </p:sp>
      <p:sp>
        <p:nvSpPr>
          <p:cNvPr id="186" name="Google Shape;18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lang="pt-BR"/>
              <a:t>1. Estruturas Fundamentais: Series e DataFrames</a:t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lang="pt-BR"/>
              <a:t>O pandas trabalha principalmente com duas estruturas de dados:</a:t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b="1" lang="pt-BR"/>
              <a:t>Series</a:t>
            </a:r>
            <a:r>
              <a:rPr lang="pt-BR"/>
              <a:t>: Uma coluna única de dados (como uma lista rotulada).</a:t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b="1" lang="pt-BR"/>
              <a:t>DataFrame</a:t>
            </a:r>
            <a:r>
              <a:rPr lang="pt-BR"/>
              <a:t>: Uma tabela completa, composta por várias Series que compartilham o mesmo índice. Imagine uma planilha do Excel  integrada diretamente no seu código.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Pandas</a:t>
            </a:r>
            <a:endParaRPr/>
          </a:p>
        </p:txBody>
      </p:sp>
      <p:sp>
        <p:nvSpPr>
          <p:cNvPr id="192" name="Google Shape;192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lang="pt-BR"/>
              <a:t>2. Manipulação e Limpeza de Dados</a:t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lang="pt-BR"/>
              <a:t>A análise real raramente começa com dados perfeitos. O pandas oferece ferramentas para:</a:t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b="1" lang="pt-BR"/>
              <a:t>Filtragem</a:t>
            </a:r>
            <a:r>
              <a:rPr lang="pt-BR"/>
              <a:t>: Selecionar apenas as linhas que atendem a um critério (ex: vendas &gt; 100).</a:t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b="1" lang="pt-BR"/>
              <a:t>Agrupamento (Groupby)</a:t>
            </a:r>
            <a:r>
              <a:rPr lang="pt-BR"/>
              <a:t>: Resumir dados por categorias (ex: média de vendas por região).</a:t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b="1" lang="pt-BR"/>
              <a:t>Tratamento de dados ausentes</a:t>
            </a:r>
            <a:r>
              <a:rPr lang="pt-BR"/>
              <a:t>: Identificar e preencher ou remover buracos na sua base de dados.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Matplotlib</a:t>
            </a:r>
            <a:endParaRPr/>
          </a:p>
        </p:txBody>
      </p:sp>
      <p:sp>
        <p:nvSpPr>
          <p:cNvPr id="198" name="Google Shape;198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pt-BR"/>
              <a:t>1</a:t>
            </a:r>
            <a:r>
              <a:rPr lang="pt-BR"/>
              <a:t>. Visualização e Dashboards com Matplotlib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pt-BR"/>
              <a:t>Para comunicar seus achados, transformamos tabelas em gráficos. Embora o pandas tenha funções internas de plotagem, o matplotlib oferece o controle total sobre os elementos do gráfico: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pt-BR"/>
              <a:t>Eixos e Legendas:</a:t>
            </a:r>
            <a:r>
              <a:rPr lang="pt-BR"/>
              <a:t> Personalização de títulos e escalas.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pt-BR"/>
              <a:t>Subplots</a:t>
            </a:r>
            <a:r>
              <a:rPr lang="pt-BR"/>
              <a:t>: Técnica para colocar vários gráficos em uma única imagem, criando a base de um dashboard estático.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</a:t>
            </a:r>
            <a:r>
              <a:rPr lang="pt-BR"/>
              <a:t>ências</a:t>
            </a:r>
            <a:endParaRPr/>
          </a:p>
        </p:txBody>
      </p:sp>
      <p:pic>
        <p:nvPicPr>
          <p:cNvPr id="204" name="Google Shape;20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9975" y="1960200"/>
            <a:ext cx="1432901" cy="185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2597" y="1960212"/>
            <a:ext cx="1308775" cy="185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7498" y="1960200"/>
            <a:ext cx="1341630" cy="185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35250" y="1963048"/>
            <a:ext cx="1308775" cy="1845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Minimalis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