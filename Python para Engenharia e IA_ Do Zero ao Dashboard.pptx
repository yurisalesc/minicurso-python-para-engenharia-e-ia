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68d30686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968d30686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3cf90ed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d3cf90ed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3cf90ed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d3cf90ed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3cf90ed6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3cf90ed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3cf90ed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3cf90ed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3cf90ed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3cf90ed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3cf90ed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3cf90ed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cf90ed6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cf90ed6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3cf90ed6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3cf90ed6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4568025" y="503988"/>
            <a:ext cx="4065600" cy="41352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504600" y="5034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504600" y="25827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2200"/>
              <a:buFont typeface="Inter"/>
              <a:buNone/>
              <a:defRPr i="0" sz="22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"/>
              <a:buNone/>
              <a:defRPr sz="9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•"/>
              <a:defRPr i="0" sz="1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–"/>
              <a:defRPr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•"/>
              <a:defRPr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–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»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linkedin.com/in/yuriscosta" TargetMode="External"/><Relationship Id="rId4" Type="http://schemas.openxmlformats.org/officeDocument/2006/relationships/hyperlink" Target="http://github.com/yurisalesc" TargetMode="External"/><Relationship Id="rId5" Type="http://schemas.openxmlformats.org/officeDocument/2006/relationships/hyperlink" Target="http://lattes.cnpq.br/3020547892022901" TargetMode="External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ude o texto para Python para Engenharia e IA Do Zero ao Dashboard&#10;&#10;"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167300" y="984400"/>
            <a:ext cx="4730700" cy="3174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Desenvolvedor Back-End;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Mestrando em Engenharia de Produç</a:t>
            </a:r>
            <a:r>
              <a:rPr lang="pt-BR" sz="1580"/>
              <a:t>ão;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Pós-Graduado em Engenharia de Software;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Tecnólogo em Análise e Desenvolvimento de Sistemas;</a:t>
            </a:r>
            <a:endParaRPr sz="1580"/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80"/>
              <a:buChar char="➔"/>
            </a:pPr>
            <a:r>
              <a:rPr lang="pt-BR" sz="1580"/>
              <a:t>Técnico em Informática.</a:t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Linkedin: </a:t>
            </a:r>
            <a:r>
              <a:rPr lang="pt-BR" sz="1580" u="sng">
                <a:solidFill>
                  <a:schemeClr val="hlink"/>
                </a:solidFill>
                <a:hlinkClick r:id="rId3"/>
              </a:rPr>
              <a:t>linkedin.com/in/yuriscosta</a:t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Github: </a:t>
            </a:r>
            <a:r>
              <a:rPr lang="pt-BR" sz="1580" u="sng">
                <a:solidFill>
                  <a:schemeClr val="hlink"/>
                </a:solidFill>
                <a:hlinkClick r:id="rId4"/>
              </a:rPr>
              <a:t>github.com/yurisalesc</a:t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580"/>
              <a:t>Lattes: </a:t>
            </a:r>
            <a:r>
              <a:rPr lang="pt-BR" sz="1580" u="sng">
                <a:solidFill>
                  <a:schemeClr val="hlink"/>
                </a:solidFill>
                <a:hlinkClick r:id="rId5"/>
              </a:rPr>
              <a:t>http://lattes.cnpq.br/3020547892022901</a:t>
            </a:r>
            <a:endParaRPr sz="158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80"/>
          </a:p>
        </p:txBody>
      </p:sp>
      <p:pic>
        <p:nvPicPr>
          <p:cNvPr id="35" name="Google Shape;3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475" y="984392"/>
            <a:ext cx="3174700" cy="31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</a:t>
            </a:r>
            <a:r>
              <a:rPr lang="pt-BR"/>
              <a:t>ÚDO PROGRAMÁTICO</a:t>
            </a:r>
            <a:endParaRPr/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1373975"/>
            <a:ext cx="57588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Introduç</a:t>
            </a:r>
            <a:r>
              <a:rPr lang="pt-BR" sz="1800"/>
              <a:t>ão à análise de dados com Pandas;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Filtragem, agrupamento e exploração analítica;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Visualização de dados e construção de dashboards;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Aplicação de algoritmos de Machine Learning;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pt-BR" sz="1800"/>
              <a:t>Atividade prática.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Link para o material</a:t>
            </a:r>
            <a:endParaRPr/>
          </a:p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2386200"/>
            <a:ext cx="8520600" cy="3711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900"/>
              <a:t>https://github.com/yurisalesc/minicurso-python-para-engenharia-e-ia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 passos para o processamento de dados</a:t>
            </a:r>
            <a:endParaRPr/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1570846"/>
            <a:ext cx="8520600" cy="299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AQUISIÇ</a:t>
            </a:r>
            <a:r>
              <a:rPr lang="pt-BR"/>
              <a:t>ÃO -&gt; LIMPEZA -&gt; TRANSFORMAÇÃO -&gt; </a:t>
            </a:r>
            <a:r>
              <a:rPr lang="pt-BR">
                <a:solidFill>
                  <a:srgbClr val="FF0000"/>
                </a:solidFill>
              </a:rPr>
              <a:t>ANÁLISE</a:t>
            </a:r>
            <a:r>
              <a:rPr lang="pt-BR">
                <a:solidFill>
                  <a:schemeClr val="accent6"/>
                </a:solidFill>
              </a:rPr>
              <a:t> </a:t>
            </a:r>
            <a:r>
              <a:rPr lang="pt-BR"/>
              <a:t>-&gt; ARMAZENAMENTO</a:t>
            </a:r>
            <a:endParaRPr/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50" y="2382350"/>
            <a:ext cx="2863551" cy="11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525" y="3853213"/>
            <a:ext cx="2993800" cy="7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4901" y="2767925"/>
            <a:ext cx="1606575" cy="16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2201" y="2603833"/>
            <a:ext cx="3050099" cy="1745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</a:t>
            </a:r>
            <a:r>
              <a:rPr lang="pt-BR"/>
              <a:t>ão de Machine Learning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 fontScale="92500" lnSpcReduction="20000"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Nesta fase, preparamos o terreno para algoritmos de ML. O objetivo é transformar dados que humanos entendem em matrizes matemáticas otimizadas.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580" lvl="0" marL="457200" rtl="0" algn="just">
              <a:spcBef>
                <a:spcPts val="300"/>
              </a:spcBef>
              <a:spcAft>
                <a:spcPts val="0"/>
              </a:spcAft>
              <a:buSzPct val="100000"/>
              <a:buChar char="➔"/>
            </a:pPr>
            <a:r>
              <a:rPr lang="pt-BR">
                <a:solidFill>
                  <a:srgbClr val="C2D076"/>
                </a:solidFill>
              </a:rPr>
              <a:t>One-Hot Encoding:</a:t>
            </a:r>
            <a:r>
              <a:rPr lang="pt-BR"/>
              <a:t> Para categorias sem ordem (ex: Região), criamos colunas 0/1. Se usássemos 1, 2, 3, o modelo acharia que 'Sul' é maior que 'Norte', o que é um erro de viés.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580" lvl="0" marL="457200" rtl="0" algn="just">
              <a:spcBef>
                <a:spcPts val="300"/>
              </a:spcBef>
              <a:spcAft>
                <a:spcPts val="0"/>
              </a:spcAft>
              <a:buSzPct val="100000"/>
              <a:buChar char="➔"/>
            </a:pPr>
            <a:r>
              <a:rPr lang="pt-BR">
                <a:solidFill>
                  <a:srgbClr val="C2D076"/>
                </a:solidFill>
              </a:rPr>
              <a:t>Feature Scaling (Normalização): </a:t>
            </a:r>
            <a:r>
              <a:rPr lang="pt-BR"/>
              <a:t>Por que fazer? Algoritmos baseados em distância (como KNN) ou gradiente (Redes Neurais) são sensíveis à escala. Se o 'Faturamento' está na casa dos 5.000 e a 'Quantidade' entre 1 e 5, o modelo dará um peso desproporcional ao faturamento. </a:t>
            </a:r>
            <a:r>
              <a:rPr lang="pt-BR"/>
              <a:t>Min-Max Scaling: Transforma os valores para um intervalo entre 0 e 1.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2580" lvl="0" marL="457200" rtl="0" algn="just">
              <a:spcBef>
                <a:spcPts val="300"/>
              </a:spcBef>
              <a:spcAft>
                <a:spcPts val="0"/>
              </a:spcAft>
              <a:buClr>
                <a:srgbClr val="C2D076"/>
              </a:buClr>
              <a:buSzPct val="100000"/>
              <a:buChar char="➔"/>
            </a:pPr>
            <a:r>
              <a:rPr lang="pt-BR">
                <a:solidFill>
                  <a:srgbClr val="C2D076"/>
                </a:solidFill>
              </a:rPr>
              <a:t>Temporalidade (Feature Engineering Temporal): </a:t>
            </a:r>
            <a:r>
              <a:rPr lang="pt-BR"/>
              <a:t>Modelos não conseguem extrair padrões diretamente de objetos de data (Ex: 2023-12-25). Decomposição: Extraímos o 'Mês' para detectar sazonalidade (ex: vendas de Natal) e o 'Dia da Semana' para entender comportamentos de fim de semana (ex: mais lazer, menos trabalho).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Random Forest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rPr lang="pt-BR"/>
              <a:t>O nome "Random" (Aleatório) vem de duas técnicas principais que garantem que as árvores sejam diferentes entre si: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Char char="➔"/>
            </a:pPr>
            <a:r>
              <a:rPr lang="pt-BR">
                <a:solidFill>
                  <a:srgbClr val="C2D076"/>
                </a:solidFill>
              </a:rPr>
              <a:t>Bagging (Bootstrap Aggregating):</a:t>
            </a:r>
            <a:r>
              <a:rPr lang="pt-BR"/>
              <a:t> Cada árvore da floresta não vê todos os dados. Ela é treinada com uma amostra aleatória do conjunto original.</a:t>
            </a:r>
            <a:endParaRPr/>
          </a:p>
          <a:p>
            <a:pPr indent="0" lvl="0" marL="45720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Char char="➔"/>
            </a:pPr>
            <a:r>
              <a:rPr lang="pt-BR">
                <a:solidFill>
                  <a:srgbClr val="C2D076"/>
                </a:solidFill>
              </a:rPr>
              <a:t>Seleção Aleatória de Atributos: </a:t>
            </a:r>
            <a:r>
              <a:rPr lang="pt-BR"/>
              <a:t>Ao decidir como dividir um nó (fazer uma pergunta), a árvore não olha para todas as colunas (features). Ela escolhe apenas um subconjunto aleatório de colunas (ex: olha apenas para 'Região' e 'Mês', ignorando 'Preço').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200" y="2102332"/>
            <a:ext cx="5327600" cy="26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688" y="266538"/>
            <a:ext cx="8520600" cy="16860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Char char="➔"/>
            </a:pPr>
            <a:r>
              <a:rPr lang="pt-BR">
                <a:solidFill>
                  <a:srgbClr val="C2D076"/>
                </a:solidFill>
              </a:rPr>
              <a:t>Na Classificação:</a:t>
            </a:r>
            <a:r>
              <a:rPr lang="pt-BR"/>
              <a:t> O modelo usa a Votação Majoritária. Se 70 árvores dizem que o cliente terá uma "Experiência Ruim" e 30 dizem que não, a floresta decide por "Experiência Ruim".</a:t>
            </a:r>
            <a:endParaRPr/>
          </a:p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spcBef>
                <a:spcPts val="300"/>
              </a:spcBef>
              <a:spcAft>
                <a:spcPts val="0"/>
              </a:spcAft>
              <a:buSzPts val="1600"/>
              <a:buChar char="➔"/>
            </a:pPr>
            <a:r>
              <a:rPr lang="pt-BR">
                <a:solidFill>
                  <a:srgbClr val="C2D076"/>
                </a:solidFill>
              </a:rPr>
              <a:t>Na Regressão:</a:t>
            </a:r>
            <a:r>
              <a:rPr lang="pt-BR"/>
              <a:t> O modelo calcula a Média das previsões de todas as árvores (ex: a média do faturamento previsto por cada árvore).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Final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30012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Carregue o CSV;</a:t>
            </a:r>
            <a:endParaRPr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Crie uma nova coluna chamada Ticket_Medio (Faturamento / Quantidade);</a:t>
            </a:r>
            <a:endParaRPr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Agrupe por Regiao e calcule a média de satisfação;</a:t>
            </a:r>
            <a:endParaRPr/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Gere um gráfico de barras mostrando o faturamento por Região.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